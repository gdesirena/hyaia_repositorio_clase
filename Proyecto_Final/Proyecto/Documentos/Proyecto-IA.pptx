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7" r:id="rId2"/>
    <p:sldId id="281" r:id="rId3"/>
    <p:sldId id="258" r:id="rId4"/>
    <p:sldId id="259" r:id="rId5"/>
    <p:sldId id="264" r:id="rId6"/>
    <p:sldId id="265" r:id="rId7"/>
    <p:sldId id="266" r:id="rId8"/>
    <p:sldId id="260" r:id="rId9"/>
    <p:sldId id="261" r:id="rId10"/>
    <p:sldId id="262" r:id="rId11"/>
    <p:sldId id="263" r:id="rId12"/>
    <p:sldId id="267" r:id="rId13"/>
    <p:sldId id="269" r:id="rId14"/>
    <p:sldId id="278" r:id="rId15"/>
    <p:sldId id="270" r:id="rId16"/>
    <p:sldId id="272" r:id="rId17"/>
    <p:sldId id="273" r:id="rId18"/>
    <p:sldId id="275" r:id="rId19"/>
    <p:sldId id="284" r:id="rId20"/>
    <p:sldId id="280" r:id="rId21"/>
    <p:sldId id="274" r:id="rId22"/>
    <p:sldId id="276" r:id="rId23"/>
    <p:sldId id="283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54" y="3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61EDC-83D4-CD75-9037-FFE6B6583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13C6F7-BB24-2EEF-67C3-54E054CD6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594339-3FE3-0628-825E-09F64B844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ECF125-97B2-8C4B-5A00-74D252F6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5ECAA4-2FEA-C62D-5BFD-B1946A0B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1703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58D699-95AC-8270-753C-4308963BB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2BEED4-CA8F-3ED5-161A-BEDA9FE8C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6942C8-3F9F-6682-FBAA-2D59E2AF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A283F4-AD06-B115-72F2-DD0A656D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5BDA97-D64D-276D-377B-A7B1BAA00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861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EFFF3-185B-9EB7-8E5B-546B1DA7C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431FAA-0CBC-38E5-B7B7-88A9C1A09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026EE1-7BD0-D7DD-09AA-017755EA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6E75F6-7A2E-355B-A10F-5E3C92EEC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08F150-B552-6933-5346-C312C746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478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09A595-F48C-60D0-9793-AECF188C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0FCBB8-7F2D-D284-454E-BF0AED7E8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3528DB-B2FA-396F-F9EC-D1B24E247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B1C593-CC03-525C-7CA9-BC5ED3E3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7B08A9-BCB3-E3ED-252C-60A06E8C7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EFE8DE-5D12-A267-949E-851294BA2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1428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0ED24-6F51-B8A8-8835-03F900CE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CA61C9-1F6D-217C-377A-33840A2AF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A2379F-D97A-1BE8-0E01-A7F6D1158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C4198A4-E4F6-3A7D-F04D-849F4441B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8E0F548-CA70-81EF-C12F-08C8EFC6E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05A76C-1082-B0F6-B396-46565EE1E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004C5E-5975-8FEE-DB24-D76993B7C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F477A7-4185-55DF-0249-93803BBE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4632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0AE90-457B-0557-5D77-8542C4BAE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A525FF-D4DD-87FF-1838-B465E0B17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76EF51-080F-2E6A-D90B-B3735267A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8FA03D-2849-EBF5-41ED-8D4FC135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536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48486C-DF31-A4CB-45AF-BD8D210D6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1850F3-D9D4-875F-CABF-68ACC4BD6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E47035-7F54-1D8E-E10A-B05A3557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2235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98155-61B6-C233-6F4D-058EBFD02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F4B53E-147A-2F10-98F0-6FEB2D165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ECA1CF-BE0F-5179-E1A4-6AB1A8DA9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DC1BFB2-F94C-9618-192A-EDEA8535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1CA156-1F9C-BBD8-786A-1D40B9A1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30DF1D-D23C-FCD5-9080-2A6FC4956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651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32520-4C68-F9BB-889F-BC4280CBE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05FD6E-AB18-7B6E-90A9-60F5965E7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C2F998-6B40-11FA-8E1A-2AED87C40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3FC3632-2B2D-81E1-385D-034BAAEBE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2A5C65-C83D-4015-E02B-F6B352E7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B8362F-0FE0-3CDD-2A2C-C0847C86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8848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9BAE2-F1A5-0B04-1B18-7BC79D65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77C9BD-A20A-048F-0B77-80A194AB7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924A69-D4C6-2191-6EA3-2F2B6D35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39B0C8-CD9A-59A2-B623-E5E9748D4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CAF296-5418-C644-B4DD-9407BC17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8423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7CAF65-F26E-EFC5-CC5B-686BD3CA6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263904-91E5-2C51-3C32-A2551FCBA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9547B4-F844-FBAB-B88A-DAB9A091F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0A2591-F20E-222A-C4DF-F91CC16F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74B1B1-F3A3-7DA8-0EFB-AAD8C628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850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C9B874-4335-F503-7D88-392B954A7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EC9E22-07C2-96FA-C0E3-6F26BD3B6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97CE14-CF1C-DE02-A5DC-56D56735B5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907A12-3046-5CA9-EAC7-EE542016B2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70C774-8F9A-9B58-6671-EDB328778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83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97AADD8D-29D7-4B10-9245-72837D2D6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55CB1B7E-4B0B-4E99-9560-9667270DA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8481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3621FD4-D14D-45D5-9A57-9A2DE5EA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62268" y="1026771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4" descr="El consumo energético de la IA generativa | Observatorio IA">
            <a:extLst>
              <a:ext uri="{FF2B5EF4-FFF2-40B4-BE49-F238E27FC236}">
                <a16:creationId xmlns:a16="http://schemas.microsoft.com/office/drawing/2014/main" id="{13CA9EC7-42DA-B18F-044B-000984560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934" y="872427"/>
            <a:ext cx="3096807" cy="3096807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96DE3D2-178D-4017-842D-87C88CE92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349285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924DBCE-E731-4B22-8181-A39C1D862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05252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72413CFE-8B8A-45C9-B7BA-CF49986D4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F6A5E45-6F91-39F4-7FD1-B6A1ECEDF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3293"/>
          <a:stretch>
            <a:fillRect/>
          </a:stretch>
        </p:blipFill>
        <p:spPr bwMode="auto">
          <a:xfrm>
            <a:off x="2930795" y="4626798"/>
            <a:ext cx="2733741" cy="2172801"/>
          </a:xfrm>
          <a:custGeom>
            <a:avLst/>
            <a:gdLst/>
            <a:ahLst/>
            <a:cxnLst/>
            <a:rect l="l" t="t" r="r" b="b"/>
            <a:pathLst>
              <a:path w="2733741" h="2172801">
                <a:moveTo>
                  <a:pt x="1366871" y="0"/>
                </a:moveTo>
                <a:cubicBezTo>
                  <a:pt x="2121772" y="0"/>
                  <a:pt x="2733741" y="595368"/>
                  <a:pt x="2733741" y="1329791"/>
                </a:cubicBezTo>
                <a:cubicBezTo>
                  <a:pt x="2733741" y="1605200"/>
                  <a:pt x="2647683" y="1861054"/>
                  <a:pt x="2500301" y="2073290"/>
                </a:cubicBezTo>
                <a:lnTo>
                  <a:pt x="2423813" y="2172801"/>
                </a:lnTo>
                <a:lnTo>
                  <a:pt x="309928" y="2172801"/>
                </a:lnTo>
                <a:lnTo>
                  <a:pt x="233440" y="2073290"/>
                </a:lnTo>
                <a:cubicBezTo>
                  <a:pt x="86058" y="1861054"/>
                  <a:pt x="0" y="1605200"/>
                  <a:pt x="0" y="1329791"/>
                </a:cubicBezTo>
                <a:cubicBezTo>
                  <a:pt x="0" y="595368"/>
                  <a:pt x="611969" y="0"/>
                  <a:pt x="1366871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333C93A-B893-7FCB-9C8D-95C7A0DA7C1F}"/>
              </a:ext>
            </a:extLst>
          </p:cNvPr>
          <p:cNvSpPr txBox="1"/>
          <p:nvPr/>
        </p:nvSpPr>
        <p:spPr>
          <a:xfrm>
            <a:off x="6316047" y="872427"/>
            <a:ext cx="5107472" cy="530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PROYECTO FINAL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Reconocimiento</a:t>
            </a:r>
            <a:r>
              <a:rPr lang="en-US" dirty="0"/>
              <a:t> de </a:t>
            </a:r>
            <a:r>
              <a:rPr lang="en-US" dirty="0" err="1"/>
              <a:t>dígitos</a:t>
            </a:r>
            <a:r>
              <a:rPr lang="en-US" dirty="0"/>
              <a:t> a mano.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MÓDULO.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Herramientas</a:t>
            </a:r>
            <a:r>
              <a:rPr lang="en-US" dirty="0"/>
              <a:t> y </a:t>
            </a:r>
            <a:r>
              <a:rPr lang="en-US" dirty="0" err="1"/>
              <a:t>aplicaciones</a:t>
            </a:r>
            <a:r>
              <a:rPr lang="en-US" dirty="0"/>
              <a:t> de la IA.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DOCENTE.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Dr. Gaddiel </a:t>
            </a:r>
            <a:r>
              <a:rPr lang="en-US" dirty="0" err="1"/>
              <a:t>Desirena</a:t>
            </a:r>
            <a:r>
              <a:rPr lang="en-US" dirty="0"/>
              <a:t> López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INTEGRANTES.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Erick Chaparro Quintanar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Juan Manuel Alegría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Liliana Mondragón </a:t>
            </a:r>
            <a:r>
              <a:rPr lang="en-US" dirty="0" err="1"/>
              <a:t>Quintana</a:t>
            </a:r>
            <a:endParaRPr lang="en-US" dirty="0"/>
          </a:p>
        </p:txBody>
      </p:sp>
      <p:sp>
        <p:nvSpPr>
          <p:cNvPr id="90" name="Arc 89">
            <a:extLst>
              <a:ext uri="{FF2B5EF4-FFF2-40B4-BE49-F238E27FC236}">
                <a16:creationId xmlns:a16="http://schemas.microsoft.com/office/drawing/2014/main" id="{034ACCCC-54D4-4F78-9B85-4A34FEBAA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65410" y="4192213"/>
            <a:ext cx="3723155" cy="3723155"/>
          </a:xfrm>
          <a:prstGeom prst="arc">
            <a:avLst>
              <a:gd name="adj1" fmla="val 1700655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121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BC50A-3632-BF19-ADEB-334F36C1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D41ACE2-E207-9DB2-F202-CD929A3C5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4BEDB5E-BD9A-A2D9-35D8-D91FF47BB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A753C5C-275F-ED11-EB83-1341AF1A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BD56C3-06E9-5B19-9526-4B3108C16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87" t="26456" r="35075" b="18791"/>
          <a:stretch/>
        </p:blipFill>
        <p:spPr>
          <a:xfrm>
            <a:off x="703182" y="1492796"/>
            <a:ext cx="4777381" cy="370266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E1BC68E-B045-3E45-D878-9C974087B6F3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Proyecto final de aplicación: </a:t>
            </a:r>
            <a:r>
              <a:rPr lang="en-US"/>
              <a:t>Reconocimiento de dígitos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>
                <a:effectLst/>
              </a:rPr>
              <a:t>Descripción:</a:t>
            </a:r>
            <a:r>
              <a:rPr lang="en-US" b="0" i="0">
                <a:effectLst/>
              </a:rPr>
              <a:t> Desarrolla un modelo de IA capaz de reconocer dígitos a mano, usando un conjunto de datos creado por el equipo.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064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FE20EC-DC72-2B0E-C542-586DB9F8BFBC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 err="1">
                <a:effectLst/>
              </a:rPr>
              <a:t>Requisitos</a:t>
            </a:r>
            <a:r>
              <a:rPr lang="en-US" b="1" i="0" dirty="0">
                <a:effectLst/>
              </a:rPr>
              <a:t>: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Crear conjunto de </a:t>
            </a:r>
            <a:r>
              <a:rPr lang="en-US" b="0" i="0" dirty="0" err="1">
                <a:effectLst/>
              </a:rPr>
              <a:t>datos</a:t>
            </a:r>
            <a:r>
              <a:rPr lang="en-US" b="0" i="0" dirty="0">
                <a:effectLst/>
              </a:rPr>
              <a:t> con </a:t>
            </a:r>
            <a:r>
              <a:rPr lang="en-US" b="0" i="0" dirty="0" err="1">
                <a:effectLst/>
              </a:rPr>
              <a:t>los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dígitos</a:t>
            </a:r>
            <a:r>
              <a:rPr lang="en-US" b="0" i="0" dirty="0">
                <a:effectLst/>
              </a:rPr>
              <a:t> 0,1,2,3,4,5,6,7,8,9 </a:t>
            </a:r>
            <a:r>
              <a:rPr lang="en-US" b="0" i="0" dirty="0" err="1">
                <a:effectLst/>
              </a:rPr>
              <a:t>estas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deben</a:t>
            </a:r>
            <a:r>
              <a:rPr lang="en-US" b="0" i="0" dirty="0">
                <a:effectLst/>
              </a:rPr>
              <a:t> ser </a:t>
            </a:r>
            <a:r>
              <a:rPr lang="en-US" b="0" i="0" dirty="0" err="1">
                <a:effectLst/>
              </a:rPr>
              <a:t>imágenes</a:t>
            </a:r>
            <a:r>
              <a:rPr lang="en-US" b="0" i="0" dirty="0">
                <a:effectLst/>
              </a:rPr>
              <a:t> (al </a:t>
            </a:r>
            <a:r>
              <a:rPr lang="en-US" b="0" i="0" dirty="0" err="1">
                <a:effectLst/>
              </a:rPr>
              <a:t>menos</a:t>
            </a:r>
            <a:r>
              <a:rPr lang="en-US" b="0" i="0" dirty="0">
                <a:effectLst/>
              </a:rPr>
              <a:t> 15 </a:t>
            </a:r>
            <a:r>
              <a:rPr lang="en-US" b="0" i="0" dirty="0" err="1">
                <a:effectLst/>
              </a:rPr>
              <a:t>imágenes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por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dígito</a:t>
            </a:r>
            <a:r>
              <a:rPr lang="en-US" b="0" i="0" dirty="0">
                <a:effectLst/>
              </a:rPr>
              <a:t>).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Leer las </a:t>
            </a:r>
            <a:r>
              <a:rPr lang="en-US" b="0" i="0" dirty="0" err="1">
                <a:effectLst/>
              </a:rPr>
              <a:t>imágenes</a:t>
            </a:r>
            <a:r>
              <a:rPr lang="en-US" b="0" i="0" dirty="0">
                <a:effectLst/>
              </a:rPr>
              <a:t> con open cv con </a:t>
            </a:r>
            <a:r>
              <a:rPr lang="en-US" b="0" i="0" dirty="0" err="1">
                <a:effectLst/>
              </a:rPr>
              <a:t>el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objetivo</a:t>
            </a:r>
            <a:r>
              <a:rPr lang="en-US" b="0" i="0" dirty="0">
                <a:effectLst/>
              </a:rPr>
              <a:t> de </a:t>
            </a:r>
            <a:r>
              <a:rPr lang="en-US" b="0" i="0" dirty="0" err="1">
                <a:effectLst/>
              </a:rPr>
              <a:t>entrenar</a:t>
            </a:r>
            <a:r>
              <a:rPr lang="en-US" b="0" i="0" dirty="0">
                <a:effectLst/>
              </a:rPr>
              <a:t> un </a:t>
            </a:r>
            <a:r>
              <a:rPr lang="en-US" b="0" i="0" dirty="0" err="1">
                <a:effectLst/>
              </a:rPr>
              <a:t>modelo</a:t>
            </a:r>
            <a:r>
              <a:rPr lang="en-US" b="0" i="0" dirty="0">
                <a:effectLst/>
              </a:rPr>
              <a:t> de </a:t>
            </a:r>
            <a:r>
              <a:rPr lang="en-US" b="0" i="0" dirty="0" err="1">
                <a:effectLst/>
              </a:rPr>
              <a:t>aprendizaje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automático</a:t>
            </a:r>
            <a:r>
              <a:rPr lang="en-US" b="0" i="0" dirty="0">
                <a:effectLst/>
              </a:rPr>
              <a:t>.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</a:rPr>
              <a:t>Convierta</a:t>
            </a:r>
            <a:r>
              <a:rPr lang="en-US" b="0" i="0" dirty="0">
                <a:effectLst/>
              </a:rPr>
              <a:t> las </a:t>
            </a:r>
            <a:r>
              <a:rPr lang="en-US" b="0" i="0" dirty="0" err="1">
                <a:effectLst/>
              </a:rPr>
              <a:t>imágenes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en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blanco</a:t>
            </a:r>
            <a:r>
              <a:rPr lang="en-US" b="0" i="0" dirty="0">
                <a:effectLst/>
              </a:rPr>
              <a:t> y negro, </a:t>
            </a:r>
            <a:r>
              <a:rPr lang="en-US" b="0" i="0" dirty="0" err="1">
                <a:effectLst/>
              </a:rPr>
              <a:t>genere</a:t>
            </a:r>
            <a:r>
              <a:rPr lang="en-US" b="0" i="0" dirty="0">
                <a:effectLst/>
              </a:rPr>
              <a:t> un conjunto de </a:t>
            </a:r>
            <a:r>
              <a:rPr lang="en-US" b="0" i="0" dirty="0" err="1">
                <a:effectLst/>
              </a:rPr>
              <a:t>datos</a:t>
            </a:r>
            <a:r>
              <a:rPr lang="en-US" b="0" i="0" dirty="0">
                <a:effectLst/>
              </a:rPr>
              <a:t> con la </a:t>
            </a:r>
            <a:r>
              <a:rPr lang="en-US" b="0" i="0" dirty="0" err="1">
                <a:effectLst/>
              </a:rPr>
              <a:t>información</a:t>
            </a:r>
            <a:r>
              <a:rPr lang="en-US" b="0" i="0" dirty="0">
                <a:effectLst/>
              </a:rPr>
              <a:t> de </a:t>
            </a:r>
            <a:r>
              <a:rPr lang="en-US" b="0" i="0" dirty="0" err="1">
                <a:effectLst/>
              </a:rPr>
              <a:t>los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píxeles</a:t>
            </a:r>
            <a:r>
              <a:rPr lang="en-US" b="0" i="0" dirty="0">
                <a:effectLst/>
              </a:rPr>
              <a:t> y </a:t>
            </a:r>
            <a:r>
              <a:rPr lang="en-US" b="0" i="0" dirty="0" err="1">
                <a:effectLst/>
              </a:rPr>
              <a:t>el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objetivo</a:t>
            </a:r>
            <a:r>
              <a:rPr lang="en-US" b="0" i="0" dirty="0">
                <a:effectLst/>
              </a:rPr>
              <a:t> (</a:t>
            </a:r>
            <a:r>
              <a:rPr lang="en-US" b="0" i="0" dirty="0" err="1">
                <a:effectLst/>
              </a:rPr>
              <a:t>el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dígito</a:t>
            </a:r>
            <a:r>
              <a:rPr lang="en-US" b="0" i="0" dirty="0">
                <a:effectLst/>
              </a:rPr>
              <a:t>).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Crear un </a:t>
            </a:r>
            <a:r>
              <a:rPr lang="en-US" b="0" i="0" dirty="0" err="1">
                <a:effectLst/>
              </a:rPr>
              <a:t>modelo</a:t>
            </a:r>
            <a:r>
              <a:rPr lang="en-US" b="0" i="0" dirty="0">
                <a:effectLst/>
              </a:rPr>
              <a:t> de SVM ó Red Neuronal, </a:t>
            </a:r>
            <a:r>
              <a:rPr lang="en-US" b="0" i="0" dirty="0" err="1">
                <a:effectLst/>
              </a:rPr>
              <a:t>guardar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el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modelo</a:t>
            </a:r>
            <a:r>
              <a:rPr lang="en-US" b="0" i="0" dirty="0">
                <a:effectLst/>
              </a:rPr>
              <a:t>.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Usando el modelo entrenado crear un archivo .</a:t>
            </a:r>
            <a:r>
              <a:rPr lang="es-MX" dirty="0" err="1"/>
              <a:t>py</a:t>
            </a:r>
            <a:r>
              <a:rPr lang="es-MX" dirty="0"/>
              <a:t> usando open </a:t>
            </a:r>
            <a:r>
              <a:rPr lang="es-MX" dirty="0" err="1"/>
              <a:t>cv</a:t>
            </a:r>
            <a:r>
              <a:rPr lang="es-MX" dirty="0"/>
              <a:t>, para escribir por pantalla el dígito y obtener la predicción.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02062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Qué son las redes neuronales y sus funciones - ATRIA Innovation">
            <a:extLst>
              <a:ext uri="{FF2B5EF4-FFF2-40B4-BE49-F238E27FC236}">
                <a16:creationId xmlns:a16="http://schemas.microsoft.com/office/drawing/2014/main" id="{F8CB31FA-105E-6DEF-3AA5-72372CF884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68" r="9584" b="1"/>
          <a:stretch>
            <a:fillRect/>
          </a:stretch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C92650-DB82-B917-95D1-EA5600BEFF6B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>
                <a:effectLst/>
              </a:rPr>
              <a:t>Condiciones de entrega: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i="0">
              <a:effectLst/>
            </a:endParaRP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El proyecto se realiza en equipo.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Subir a la plataforma ALINCO un archivo </a:t>
            </a:r>
            <a:r>
              <a:rPr lang="en-US" sz="2000" b="1" i="0">
                <a:effectLst/>
              </a:rPr>
              <a:t>.zip</a:t>
            </a:r>
            <a:r>
              <a:rPr lang="en-US" sz="2000" b="0" i="0">
                <a:effectLst/>
              </a:rPr>
              <a:t> con el código, diapositivas y reporte.</a:t>
            </a:r>
          </a:p>
          <a:p>
            <a:pPr marL="5143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Presentar el código y funcionamiento en una videollamada.</a:t>
            </a:r>
          </a:p>
        </p:txBody>
      </p:sp>
    </p:spTree>
    <p:extLst>
      <p:ext uri="{BB962C8B-B14F-4D97-AF65-F5344CB8AC3E}">
        <p14:creationId xmlns:p14="http://schemas.microsoft.com/office/powerpoint/2010/main" val="146412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482E3EF-FC7F-7EC6-7FD5-4CE89F0BBEBF}"/>
              </a:ext>
            </a:extLst>
          </p:cNvPr>
          <p:cNvSpPr txBox="1"/>
          <p:nvPr/>
        </p:nvSpPr>
        <p:spPr>
          <a:xfrm>
            <a:off x="987689" y="3071183"/>
            <a:ext cx="9910296" cy="25900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continuación mostraremos una serie de imágenes relacionadas con el proyecto desarrollado.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03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0C585DE-7A32-13EA-117F-D167DAFD96DD}"/>
              </a:ext>
            </a:extLst>
          </p:cNvPr>
          <p:cNvSpPr txBox="1"/>
          <p:nvPr/>
        </p:nvSpPr>
        <p:spPr>
          <a:xfrm>
            <a:off x="1113810" y="296071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Estructura del directorio del proyecto.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6AFA03B5-8C1A-79A3-1620-B5EE6061C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183" y="666728"/>
            <a:ext cx="2250619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9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2657F2-9FAE-7401-F4A4-9745BFCA98BB}"/>
              </a:ext>
            </a:extLst>
          </p:cNvPr>
          <p:cNvSpPr txBox="1"/>
          <p:nvPr/>
        </p:nvSpPr>
        <p:spPr>
          <a:xfrm>
            <a:off x="1113810" y="3130041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>
                <a:latin typeface="+mj-lt"/>
                <a:ea typeface="+mj-ea"/>
                <a:cs typeface="+mj-cs"/>
              </a:rPr>
              <a:t>Parte del código de Capturar Números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EF0BA7-A2F9-F94F-7E38-EF1F4719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452" b="-1"/>
          <a:stretch>
            <a:fillRect/>
          </a:stretch>
        </p:blipFill>
        <p:spPr>
          <a:xfrm>
            <a:off x="5922492" y="391252"/>
            <a:ext cx="5536001" cy="601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4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ABBD797-A4F4-6376-9225-C5EEEE3E36B5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Ventana donde se captura los números y se almacenan.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BFF15A7-281E-D5C7-D959-AD80D21B8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045" y="1675227"/>
            <a:ext cx="781191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41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CA6AE4-25A7-0AE3-000D-5FA60FF17E77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Muestra cuando se almacena una nueva imagen y las ya almacenadas.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9449EE-2726-8889-47A4-4D7645A7F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045" y="1675227"/>
            <a:ext cx="781191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6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0EA352-68F6-C77F-6211-543EAF0DAD5F}"/>
              </a:ext>
            </a:extLst>
          </p:cNvPr>
          <p:cNvSpPr txBox="1"/>
          <p:nvPr/>
        </p:nvSpPr>
        <p:spPr>
          <a:xfrm>
            <a:off x="371093" y="2443480"/>
            <a:ext cx="3690543" cy="3481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Parte</a:t>
            </a:r>
            <a:r>
              <a:rPr lang="en-US" sz="2000" dirty="0"/>
              <a:t> del </a:t>
            </a:r>
            <a:r>
              <a:rPr lang="en-US" sz="2000" dirty="0" err="1"/>
              <a:t>código</a:t>
            </a:r>
            <a:r>
              <a:rPr lang="en-US" sz="2000" dirty="0"/>
              <a:t> de </a:t>
            </a:r>
            <a:r>
              <a:rPr lang="en-US" sz="2000" dirty="0" err="1"/>
              <a:t>procesamiento</a:t>
            </a:r>
            <a:r>
              <a:rPr lang="en-US" sz="2000" dirty="0"/>
              <a:t> de </a:t>
            </a:r>
            <a:r>
              <a:rPr lang="en-US" sz="2000" dirty="0" err="1"/>
              <a:t>imágenes</a:t>
            </a:r>
            <a:r>
              <a:rPr lang="en-US" sz="2000" dirty="0"/>
              <a:t>, </a:t>
            </a: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lógica</a:t>
            </a:r>
            <a:r>
              <a:rPr lang="en-US" sz="2000" dirty="0"/>
              <a:t> </a:t>
            </a: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dentro</a:t>
            </a:r>
            <a:r>
              <a:rPr lang="en-US" sz="2000" dirty="0"/>
              <a:t> de la </a:t>
            </a:r>
            <a:r>
              <a:rPr lang="en-US" sz="2000" dirty="0" err="1"/>
              <a:t>clase</a:t>
            </a:r>
            <a:r>
              <a:rPr lang="en-US" sz="2000" dirty="0"/>
              <a:t> </a:t>
            </a:r>
            <a:r>
              <a:rPr lang="en-US" sz="2000" dirty="0" err="1"/>
              <a:t>ML_Predict</a:t>
            </a:r>
            <a:endParaRPr lang="en-US" sz="2000" dirty="0"/>
          </a:p>
        </p:txBody>
      </p:sp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981BB116-A7F2-818D-0155-D208D53FB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78" y="340242"/>
            <a:ext cx="6262419" cy="625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0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AF7B522-3F2D-3665-9FDB-0C8D468F0A59}"/>
              </a:ext>
            </a:extLst>
          </p:cNvPr>
          <p:cNvSpPr txBox="1"/>
          <p:nvPr/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Muestra las carpetas encontradas y los dígitos encontrados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0B0F70-6667-F3DA-3E2A-1294519A1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05" y="2594344"/>
            <a:ext cx="5631431" cy="24325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7255E5-56C2-F478-C850-1E071F5E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211572"/>
            <a:ext cx="5131087" cy="333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4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EFC8B95-17C5-08F7-A692-97C15FD8B860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Parte del código de Entrenar Modelo SVC, esta lógica se encapsulo en la clase ML_Predict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DC7A4E7A-BDAD-9363-EEC6-21FC786BE6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06" b="2"/>
          <a:stretch>
            <a:fillRect/>
          </a:stretch>
        </p:blipFill>
        <p:spPr>
          <a:xfrm>
            <a:off x="6055578" y="354959"/>
            <a:ext cx="5492338" cy="591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62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D2585C-D3FE-E1A5-2040-7B234784A238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Parte del código de ML_Predict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D2EBFD9-47F7-F2B5-BFF7-69EF2583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318978"/>
            <a:ext cx="6780700" cy="618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64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8DA786-76D3-2EC3-A232-E42C7E3E362C}"/>
              </a:ext>
            </a:extLst>
          </p:cNvPr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b="1">
                <a:effectLst/>
              </a:rPr>
              <a:t>ML_Predict.py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>
              <a:effectLst/>
            </a:endParaRPr>
          </a:p>
          <a:p>
            <a:pPr marL="457200" lvl="0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>
                <a:effectLst/>
              </a:rPr>
              <a:t>Clase ML_Predict que encapsula todo el flujo de SVM para reconocimiento de dígitos.</a:t>
            </a:r>
          </a:p>
          <a:p>
            <a:pPr marL="457200" lvl="0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>
                <a:effectLst/>
              </a:rPr>
              <a:t>Permite:</a:t>
            </a:r>
          </a:p>
          <a:p>
            <a:pPr marL="97155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2000">
                <a:effectLst/>
              </a:rPr>
              <a:t>Cargar datos de imagenesnumeros_data.npz.</a:t>
            </a:r>
          </a:p>
          <a:p>
            <a:pPr marL="97155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>
                <a:effectLst/>
              </a:rPr>
              <a:t>Entrenar un SVM con kernel RBF (Entrenar_Modelo).</a:t>
            </a:r>
          </a:p>
          <a:p>
            <a:pPr marL="97155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>
                <a:effectLst/>
              </a:rPr>
              <a:t>Guardar el modelo entrenado (.pkl).</a:t>
            </a:r>
          </a:p>
          <a:p>
            <a:pPr marL="97155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2000">
                <a:effectLst/>
              </a:rPr>
              <a:t>Procesar imágenes nuevas y predecir dígitos (Predecir_Digito).</a:t>
            </a:r>
          </a:p>
        </p:txBody>
      </p:sp>
    </p:spTree>
    <p:extLst>
      <p:ext uri="{BB962C8B-B14F-4D97-AF65-F5344CB8AC3E}">
        <p14:creationId xmlns:p14="http://schemas.microsoft.com/office/powerpoint/2010/main" val="475086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B3329E-DDBD-5878-5C5C-0B057C52B1C8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Parte del código de Predecir Número, este método se encuentra en la clase ML_Predict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E5E1E04-BE5B-DAA9-6B7F-3FE94BE9C3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7426"/>
          <a:stretch>
            <a:fillRect/>
          </a:stretch>
        </p:blipFill>
        <p:spPr>
          <a:xfrm>
            <a:off x="5977788" y="509570"/>
            <a:ext cx="5425410" cy="580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70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1A3DA8-DF85-AC01-7820-7C1A0FE58141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Parte del código de Reconocimiento Números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1A7D1A-B8FB-B124-8086-06A0FD5623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625" b="-1"/>
          <a:stretch>
            <a:fillRect/>
          </a:stretch>
        </p:blipFill>
        <p:spPr>
          <a:xfrm>
            <a:off x="5977788" y="509570"/>
            <a:ext cx="5425410" cy="580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12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23FB0A-0E78-F870-6844-A5392EDD9643}"/>
              </a:ext>
            </a:extLst>
          </p:cNvPr>
          <p:cNvSpPr txBox="1"/>
          <p:nvPr/>
        </p:nvSpPr>
        <p:spPr>
          <a:xfrm>
            <a:off x="556532" y="643467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Muestra que encontró el modelo y las carpetas, comienza a procesarlo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E2607FA-AF1A-FD6A-81A5-943A4C146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1" y="1675227"/>
            <a:ext cx="10159998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86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C93E8E-3BEA-AA22-75E6-B51AC803BB08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500" b="1">
                <a:effectLst/>
              </a:rPr>
              <a:t>ReconocimientoNumeros.py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500">
              <a:effectLst/>
            </a:endParaRPr>
          </a:p>
          <a:p>
            <a:pPr marL="457200" lvl="0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500">
                <a:effectLst/>
              </a:rPr>
              <a:t>Interfaz gráfica en Tkinter para:</a:t>
            </a:r>
          </a:p>
          <a:p>
            <a:pPr marL="102870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500">
                <a:effectLst/>
              </a:rPr>
              <a:t>Dibujar dígitos a mano.</a:t>
            </a:r>
          </a:p>
          <a:p>
            <a:pPr marL="102870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500">
                <a:effectLst/>
              </a:rPr>
              <a:t>Limpiar, guardar y predecir dibujos.</a:t>
            </a:r>
          </a:p>
          <a:p>
            <a:pPr marL="102870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500">
                <a:effectLst/>
              </a:rPr>
              <a:t>Entrenar modelos SVM o CNN desde la interfaz.</a:t>
            </a:r>
          </a:p>
          <a:p>
            <a:pPr marL="102870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500">
                <a:effectLst/>
              </a:rPr>
              <a:t>Visualizar </a:t>
            </a:r>
            <a:r>
              <a:rPr lang="en-US" sz="1500"/>
              <a:t>D</a:t>
            </a:r>
            <a:r>
              <a:rPr lang="en-US" sz="1500">
                <a:effectLst/>
              </a:rPr>
              <a:t>ataset en un Treeview.</a:t>
            </a:r>
          </a:p>
          <a:p>
            <a:pPr marL="457200" lvl="0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500">
                <a:effectLst/>
              </a:rPr>
              <a:t>Integra ML_Predict (SVM) y TFMnist (CNN).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13D29B3-34A2-293B-F691-06BC5A0ED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22" y="587829"/>
            <a:ext cx="6157244" cy="501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16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0DEC31-56C7-DA44-D73E-BAFED6BA2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825248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Predicción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con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SVM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788F55F-589F-9073-DA98-C548AB6CE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935665"/>
            <a:ext cx="5733842" cy="46565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47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69E7EE2-CF6F-C5B2-50D6-B69798E1674E}"/>
              </a:ext>
            </a:extLst>
          </p:cNvPr>
          <p:cNvSpPr txBox="1"/>
          <p:nvPr/>
        </p:nvSpPr>
        <p:spPr>
          <a:xfrm>
            <a:off x="404883" y="278361"/>
            <a:ext cx="11382233" cy="5840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07000"/>
              </a:lnSpc>
              <a:spcAft>
                <a:spcPts val="800"/>
              </a:spcAft>
            </a:pPr>
            <a:r>
              <a:rPr lang="es-MX" sz="2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TFMnist.py</a:t>
            </a:r>
          </a:p>
          <a:p>
            <a:pPr indent="449580" algn="ctr">
              <a:lnSpc>
                <a:spcPct val="107000"/>
              </a:lnSpc>
              <a:spcAft>
                <a:spcPts val="800"/>
              </a:spcAft>
            </a:pPr>
            <a:endParaRPr lang="es-MX" sz="2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TFMnist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para entrenar y usar una CNN con </a:t>
            </a:r>
            <a:r>
              <a:rPr lang="es-MX" sz="28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 </a:t>
            </a:r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s-MX" sz="28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ataset 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MNIST.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Preprocesa imágenes (redimensiona a 28×28, escala de grises, normaliza) y las transforma al formato (28,28,1) requerido por la CNN.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Permite:</a:t>
            </a:r>
          </a:p>
          <a:p>
            <a:pPr marL="971550" lvl="1" indent="-514350">
              <a:lnSpc>
                <a:spcPct val="107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Entrenar un modelo CNN (Conv2D +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MaxPooling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+ Dense +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Dropout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971550" lvl="1" indent="-514350">
              <a:lnSpc>
                <a:spcPct val="107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Guardar/recuperar el modelo (modelo_mnist.h5).</a:t>
            </a:r>
          </a:p>
          <a:p>
            <a:pPr marL="971550" lvl="1" indent="-514350">
              <a:lnSpc>
                <a:spcPct val="107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Predecir dígitos de imágenes nuevas.</a:t>
            </a:r>
          </a:p>
        </p:txBody>
      </p:sp>
    </p:spTree>
    <p:extLst>
      <p:ext uri="{BB962C8B-B14F-4D97-AF65-F5344CB8AC3E}">
        <p14:creationId xmlns:p14="http://schemas.microsoft.com/office/powerpoint/2010/main" val="2236539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7074860-68BC-B85B-2AE4-10A6AA246C93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Muestra la arquitectura que se utilizará en CNN.</a:t>
            </a:r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CB9070-CAE9-92CA-647B-DD4B1778F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44" b="-3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914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F1916BC1-8B2A-D29F-8F2A-CCB5121A1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158" y="0"/>
            <a:ext cx="4971684" cy="6858000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F6F1960-7960-0EBD-7717-D6B9E1738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158" y="0"/>
            <a:ext cx="4971684" cy="6858000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0BFAE5B6-5F24-29A2-5530-AFB88DC4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158" y="0"/>
            <a:ext cx="4971684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467751C-C715-E845-02D8-E24434C95F80}"/>
              </a:ext>
            </a:extLst>
          </p:cNvPr>
          <p:cNvSpPr txBox="1"/>
          <p:nvPr/>
        </p:nvSpPr>
        <p:spPr>
          <a:xfrm>
            <a:off x="313899" y="2142699"/>
            <a:ext cx="35620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Creación del modelo CNN en la clase </a:t>
            </a:r>
            <a:r>
              <a:rPr lang="es-MX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TFMnist</a:t>
            </a:r>
            <a:endParaRPr lang="es-MX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997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D861C7-5395-AC3D-5E8A-762CF5261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Predicción con model CNN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19F251C-AE31-4EAF-EF5A-D6C321275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205984"/>
            <a:ext cx="5536001" cy="438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7589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342</TotalTime>
  <Words>549</Words>
  <Application>Microsoft Office PowerPoint</Application>
  <PresentationFormat>Panorámica</PresentationFormat>
  <Paragraphs>67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Tahoma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Predicción con modelo SVM</vt:lpstr>
      <vt:lpstr>Presentación de PowerPoint</vt:lpstr>
      <vt:lpstr>Presentación de PowerPoint</vt:lpstr>
      <vt:lpstr>Presentación de PowerPoint</vt:lpstr>
      <vt:lpstr>Predicción con model CNN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Liliana Mondragon Quintana</dc:creator>
  <cp:lastModifiedBy>ERICK CHAPARRO</cp:lastModifiedBy>
  <cp:revision>16</cp:revision>
  <dcterms:created xsi:type="dcterms:W3CDTF">2025-12-04T03:41:23Z</dcterms:created>
  <dcterms:modified xsi:type="dcterms:W3CDTF">2025-12-12T01:21:48Z</dcterms:modified>
</cp:coreProperties>
</file>